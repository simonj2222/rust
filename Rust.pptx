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9" r:id="rId3"/>
    <p:sldId id="278" r:id="rId4"/>
    <p:sldId id="266" r:id="rId5"/>
    <p:sldId id="258" r:id="rId6"/>
    <p:sldId id="277" r:id="rId7"/>
    <p:sldId id="280" r:id="rId8"/>
    <p:sldId id="268" r:id="rId9"/>
    <p:sldId id="281" r:id="rId10"/>
    <p:sldId id="282" r:id="rId11"/>
    <p:sldId id="283" r:id="rId12"/>
    <p:sldId id="284" r:id="rId13"/>
    <p:sldId id="285" r:id="rId14"/>
    <p:sldId id="287" r:id="rId15"/>
    <p:sldId id="286" r:id="rId16"/>
    <p:sldId id="272" r:id="rId17"/>
    <p:sldId id="275" r:id="rId18"/>
    <p:sldId id="276" r:id="rId19"/>
    <p:sldId id="270" r:id="rId20"/>
    <p:sldId id="262" r:id="rId21"/>
    <p:sldId id="261" r:id="rId22"/>
    <p:sldId id="273" r:id="rId2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2555E7-B581-15FD-134E-5905B4F63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831D544-1824-FB0F-AB8D-FBE9E34027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C020082-3A2A-04D6-9C27-B5EC34B56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E3FFC-5908-42B2-B0F5-2962D77A5AE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C7C6880-DAFE-6438-160E-B85026826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26888FE-1588-5068-2BF4-51888E3CC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2859A-81C1-4B14-BD4C-8FA12E97B69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622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60F749-681B-C5CE-65E0-D1CF1CCD4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1145A01-532E-12CB-9379-D21928DAB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18DF2A7-4625-1112-6D8B-5E2FC171D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E3FFC-5908-42B2-B0F5-2962D77A5AE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73F22CA-6FDD-7C17-59CD-F5CAB7605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7BBD622-3B5C-4E54-56B0-FD36453A3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2859A-81C1-4B14-BD4C-8FA12E97B69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020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282F01-6764-2C6B-B48B-87140AE15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4982C3B-3AB7-E81C-8570-DBEEE30BB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15E640-7873-27E6-1EB7-6283B165F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E3FFC-5908-42B2-B0F5-2962D77A5AE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08576F1-00DB-1371-087E-1AF560356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D75EF79-54A0-4133-D5D4-EC53229C9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2859A-81C1-4B14-BD4C-8FA12E97B69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260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5DBD4B-1BD1-1C48-0228-053064D28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9C09A8D-F996-6D77-FB23-7BC9776D54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04173CC-DAFC-331D-1BA2-0686EB2495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4A8A185-0026-F24E-9AD1-18FFCD4E7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E3FFC-5908-42B2-B0F5-2962D77A5AE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4595439-034B-BAA0-7748-C47042C44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E56FD3E-9C98-044F-7887-C9220346E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2859A-81C1-4B14-BD4C-8FA12E97B69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61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B63E0E-EB6D-4032-B4A3-77F01FFA2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C5E25AE-5D4A-0E7B-3CF0-7FA6CA164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A14ECBF-D4F4-978E-B2B6-AF972084F2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F0C5534-C00A-2FCB-2A85-3D13B0E36E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5C2DBE2-774B-688D-7455-9FCF86723C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61C7FE1-D674-6BC8-B412-5D51B05C5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E3FFC-5908-42B2-B0F5-2962D77A5AE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7192DEA-F2B2-218A-9198-5C42AF2B7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AECE9B8-1C81-0D34-9CBD-E6305D6BE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2859A-81C1-4B14-BD4C-8FA12E97B69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21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BA2599-452D-456D-DAB9-094BC654E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DEC210D-2ECE-FA0C-8F78-C15D22B84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E3FFC-5908-42B2-B0F5-2962D77A5AE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07F2642-B108-FDCD-FB6A-FFDCC5E5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5ABB079-5A99-5F3A-168D-48527A29C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2859A-81C1-4B14-BD4C-8FA12E97B69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068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1CA96E9-A1FC-B65F-ADAC-55CF0C92E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E3FFC-5908-42B2-B0F5-2962D77A5AE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0A57EFA-0394-321F-19B4-9D65BB319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39B91FA-5D9B-C789-C274-A49BB670D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2859A-81C1-4B14-BD4C-8FA12E97B69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702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D0FCE2-1BEE-5A9E-BEF9-636A9FDA1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9885B1B-0C91-BFF6-83CC-5009223D2E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DFED25A-5AA7-6613-0B58-19459AF469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68F9C37-7807-580E-78CF-975F87EE8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E3FFC-5908-42B2-B0F5-2962D77A5AE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72D9602-B048-24CC-E7E4-301829237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AAA4BEF-6774-4E28-4E7B-48C0A667C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2859A-81C1-4B14-BD4C-8FA12E97B69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347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5DA59B-BE8C-91F3-57FF-F8A3F959C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D6EA804-9C8F-C172-7A23-423671C854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5471885-0E48-7F07-D599-DD0B97F8B4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F119DC3-EB92-159B-56E5-9A0BD126D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E3FFC-5908-42B2-B0F5-2962D77A5AE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067D235-C73C-61AC-75E6-F6452161C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60C6C05-EC1E-6046-6DE9-F5BDA5109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2859A-81C1-4B14-BD4C-8FA12E97B69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5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128BA9-8598-F6EF-BF9A-0807FBE1B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8B339FC-92D4-0B6C-EED6-98D5249909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4BFC468-0BD8-2E43-E4E3-8027D68B1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E3FFC-5908-42B2-B0F5-2962D77A5AE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52B3313-378E-11C0-5A1C-8AFE02F55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034D1F8-5604-1E86-FD07-C0A2EAA5F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2859A-81C1-4B14-BD4C-8FA12E97B69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500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129D2AC1-17B0-15A1-1C6B-66C83BB85B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7399EB5-E501-B6F0-810F-5EC2204B72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843FDFE-62FD-4FB9-F4C5-7E6078B1E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E3FFC-5908-42B2-B0F5-2962D77A5AE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11FD24B-62ED-6D1B-59AC-981EF3DF0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8350F1-38CC-3625-8C55-5EB73B984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2859A-81C1-4B14-BD4C-8FA12E97B69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599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E8BB884-774C-91F8-45A4-20D118A3F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D06361F-2FFE-D3D3-6024-7EDA1956A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0DF913-DB51-9523-07C8-6DB160A6DE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FE3FFC-5908-42B2-B0F5-2962D77A5AE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3DA0B29-4D30-66F7-2511-1FB367B5FA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BAEE6AC-8B83-BC03-9A57-E77383CDED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62859A-81C1-4B14-BD4C-8FA12E97B69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725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play.rust-lang.org/?version=stable&amp;mode=debug&amp;edition=2024" TargetMode="External"/><Relationship Id="rId2" Type="http://schemas.openxmlformats.org/officeDocument/2006/relationships/hyperlink" Target="https://rust-lang.org/tools/install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imonJ2222/Rust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34">
            <a:extLst>
              <a:ext uri="{FF2B5EF4-FFF2-40B4-BE49-F238E27FC236}">
                <a16:creationId xmlns:a16="http://schemas.microsoft.com/office/drawing/2014/main" id="{1C4FDBE2-32F7-4AC4-A40C-C51C65B1D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>
              <a:solidFill>
                <a:schemeClr val="tx1"/>
              </a:solidFill>
            </a:endParaRPr>
          </a:p>
        </p:txBody>
      </p:sp>
      <p:sp>
        <p:nvSpPr>
          <p:cNvPr id="70" name="Arc 36">
            <a:extLst>
              <a:ext uri="{FF2B5EF4-FFF2-40B4-BE49-F238E27FC236}">
                <a16:creationId xmlns:a16="http://schemas.microsoft.com/office/drawing/2014/main" id="{E2B33195-5BCA-4BB7-A82D-673952268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604789">
            <a:off x="675639" y="775849"/>
            <a:ext cx="2987899" cy="2987899"/>
          </a:xfrm>
          <a:prstGeom prst="arc">
            <a:avLst>
              <a:gd name="adj1" fmla="val 14455503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72E90FC-D98E-F545-BB14-65C674CE6B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2817" y="1370171"/>
            <a:ext cx="4425551" cy="2387600"/>
          </a:xfrm>
        </p:spPr>
        <p:txBody>
          <a:bodyPr>
            <a:normAutofit/>
          </a:bodyPr>
          <a:lstStyle/>
          <a:p>
            <a:pPr algn="l"/>
            <a:r>
              <a:rPr lang="de-DE" sz="8000" b="1" noProof="0" dirty="0"/>
              <a:t>Rust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A15AC97-12F3-5DF4-91B8-6DDA387B42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2817" y="3849845"/>
            <a:ext cx="4425551" cy="1881751"/>
          </a:xfrm>
        </p:spPr>
        <p:txBody>
          <a:bodyPr>
            <a:normAutofit/>
          </a:bodyPr>
          <a:lstStyle/>
          <a:p>
            <a:pPr algn="l"/>
            <a:r>
              <a:rPr lang="de-DE" noProof="0" dirty="0"/>
              <a:t>Simon Just TINF24B5</a:t>
            </a:r>
          </a:p>
        </p:txBody>
      </p:sp>
      <p:sp>
        <p:nvSpPr>
          <p:cNvPr id="71" name="Oval 38">
            <a:extLst>
              <a:ext uri="{FF2B5EF4-FFF2-40B4-BE49-F238E27FC236}">
                <a16:creationId xmlns:a16="http://schemas.microsoft.com/office/drawing/2014/main" id="{CF8AD9F3-9AF6-494F-83A3-2F67756393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5976" y="2130090"/>
            <a:ext cx="457824" cy="4454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Freeform: Shape 40">
            <a:extLst>
              <a:ext uri="{FF2B5EF4-FFF2-40B4-BE49-F238E27FC236}">
                <a16:creationId xmlns:a16="http://schemas.microsoft.com/office/drawing/2014/main" id="{11156773-3FB3-46D9-9F87-8212874048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13872" y="3116072"/>
            <a:ext cx="4378128" cy="3741928"/>
          </a:xfrm>
          <a:custGeom>
            <a:avLst/>
            <a:gdLst>
              <a:gd name="connsiteX0" fmla="*/ 2605183 w 4378128"/>
              <a:gd name="connsiteY0" fmla="*/ 0 h 3741928"/>
              <a:gd name="connsiteX1" fmla="*/ 4262321 w 4378128"/>
              <a:gd name="connsiteY1" fmla="*/ 594897 h 3741928"/>
              <a:gd name="connsiteX2" fmla="*/ 4378128 w 4378128"/>
              <a:gd name="connsiteY2" fmla="*/ 700149 h 3741928"/>
              <a:gd name="connsiteX3" fmla="*/ 4378128 w 4378128"/>
              <a:gd name="connsiteY3" fmla="*/ 3741928 h 3741928"/>
              <a:gd name="connsiteX4" fmla="*/ 263831 w 4378128"/>
              <a:gd name="connsiteY4" fmla="*/ 3741928 h 3741928"/>
              <a:gd name="connsiteX5" fmla="*/ 204729 w 4378128"/>
              <a:gd name="connsiteY5" fmla="*/ 3619238 h 3741928"/>
              <a:gd name="connsiteX6" fmla="*/ 0 w 4378128"/>
              <a:gd name="connsiteY6" fmla="*/ 2605183 h 3741928"/>
              <a:gd name="connsiteX7" fmla="*/ 2605183 w 4378128"/>
              <a:gd name="connsiteY7" fmla="*/ 0 h 3741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378128" h="3741928">
                <a:moveTo>
                  <a:pt x="2605183" y="0"/>
                </a:moveTo>
                <a:cubicBezTo>
                  <a:pt x="3234659" y="0"/>
                  <a:pt x="3811992" y="223253"/>
                  <a:pt x="4262321" y="594897"/>
                </a:cubicBezTo>
                <a:lnTo>
                  <a:pt x="4378128" y="700149"/>
                </a:lnTo>
                <a:lnTo>
                  <a:pt x="4378128" y="3741928"/>
                </a:lnTo>
                <a:lnTo>
                  <a:pt x="263831" y="3741928"/>
                </a:lnTo>
                <a:lnTo>
                  <a:pt x="204729" y="3619238"/>
                </a:lnTo>
                <a:cubicBezTo>
                  <a:pt x="72899" y="3307558"/>
                  <a:pt x="0" y="2964884"/>
                  <a:pt x="0" y="2605183"/>
                </a:cubicBezTo>
                <a:cubicBezTo>
                  <a:pt x="0" y="1166380"/>
                  <a:pt x="1166380" y="0"/>
                  <a:pt x="260518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noProof="0" dirty="0"/>
          </a:p>
        </p:txBody>
      </p:sp>
      <p:sp>
        <p:nvSpPr>
          <p:cNvPr id="73" name="Freeform: Shape 42">
            <a:extLst>
              <a:ext uri="{FF2B5EF4-FFF2-40B4-BE49-F238E27FC236}">
                <a16:creationId xmlns:a16="http://schemas.microsoft.com/office/drawing/2014/main" id="{E8EA24D0-C854-4AA8-B8FD-D252660D8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99731" y="1"/>
            <a:ext cx="4208478" cy="3678281"/>
          </a:xfrm>
          <a:custGeom>
            <a:avLst/>
            <a:gdLst>
              <a:gd name="connsiteX0" fmla="*/ 711074 w 4208478"/>
              <a:gd name="connsiteY0" fmla="*/ 0 h 3678281"/>
              <a:gd name="connsiteX1" fmla="*/ 3497404 w 4208478"/>
              <a:gd name="connsiteY1" fmla="*/ 0 h 3678281"/>
              <a:gd name="connsiteX2" fmla="*/ 3592161 w 4208478"/>
              <a:gd name="connsiteY2" fmla="*/ 86120 h 3678281"/>
              <a:gd name="connsiteX3" fmla="*/ 4208478 w 4208478"/>
              <a:gd name="connsiteY3" fmla="*/ 1574042 h 3678281"/>
              <a:gd name="connsiteX4" fmla="*/ 2104239 w 4208478"/>
              <a:gd name="connsiteY4" fmla="*/ 3678281 h 3678281"/>
              <a:gd name="connsiteX5" fmla="*/ 0 w 4208478"/>
              <a:gd name="connsiteY5" fmla="*/ 1574042 h 3678281"/>
              <a:gd name="connsiteX6" fmla="*/ 616318 w 4208478"/>
              <a:gd name="connsiteY6" fmla="*/ 86120 h 3678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08478" h="3678281">
                <a:moveTo>
                  <a:pt x="711074" y="0"/>
                </a:moveTo>
                <a:lnTo>
                  <a:pt x="3497404" y="0"/>
                </a:lnTo>
                <a:lnTo>
                  <a:pt x="3592161" y="86120"/>
                </a:lnTo>
                <a:cubicBezTo>
                  <a:pt x="3972953" y="466913"/>
                  <a:pt x="4208478" y="992973"/>
                  <a:pt x="4208478" y="1574042"/>
                </a:cubicBezTo>
                <a:cubicBezTo>
                  <a:pt x="4208478" y="2736181"/>
                  <a:pt x="3266378" y="3678281"/>
                  <a:pt x="2104239" y="3678281"/>
                </a:cubicBezTo>
                <a:cubicBezTo>
                  <a:pt x="942100" y="3678281"/>
                  <a:pt x="0" y="2736181"/>
                  <a:pt x="0" y="1574042"/>
                </a:cubicBezTo>
                <a:cubicBezTo>
                  <a:pt x="0" y="992973"/>
                  <a:pt x="235525" y="466913"/>
                  <a:pt x="616318" y="8612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noProof="0" dirty="0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C6CC1FD8-121E-2461-BDE9-23098C3137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70029" y="522988"/>
            <a:ext cx="2867881" cy="1911920"/>
          </a:xfrm>
          <a:custGeom>
            <a:avLst/>
            <a:gdLst/>
            <a:ahLst/>
            <a:cxnLst/>
            <a:rect l="l" t="t" r="r" b="b"/>
            <a:pathLst>
              <a:path w="2833631" h="2677010">
                <a:moveTo>
                  <a:pt x="49418" y="0"/>
                </a:moveTo>
                <a:lnTo>
                  <a:pt x="2784213" y="0"/>
                </a:lnTo>
                <a:cubicBezTo>
                  <a:pt x="2811506" y="0"/>
                  <a:pt x="2833631" y="22125"/>
                  <a:pt x="2833631" y="49418"/>
                </a:cubicBezTo>
                <a:lnTo>
                  <a:pt x="2833631" y="2627592"/>
                </a:lnTo>
                <a:cubicBezTo>
                  <a:pt x="2833631" y="2654885"/>
                  <a:pt x="2811506" y="2677010"/>
                  <a:pt x="2784213" y="2677010"/>
                </a:cubicBezTo>
                <a:lnTo>
                  <a:pt x="49418" y="2677010"/>
                </a:lnTo>
                <a:cubicBezTo>
                  <a:pt x="22125" y="2677010"/>
                  <a:pt x="0" y="2654885"/>
                  <a:pt x="0" y="2627592"/>
                </a:cubicBezTo>
                <a:lnTo>
                  <a:pt x="0" y="49418"/>
                </a:lnTo>
                <a:cubicBezTo>
                  <a:pt x="0" y="22125"/>
                  <a:pt x="22125" y="0"/>
                  <a:pt x="49418" y="0"/>
                </a:cubicBezTo>
                <a:close/>
              </a:path>
            </a:pathLst>
          </a:custGeom>
        </p:spPr>
      </p:pic>
      <p:pic>
        <p:nvPicPr>
          <p:cNvPr id="6" name="Grafik 5" descr="Ein Bild, das Schrift, Logo, Symbol, Grafiken enthält.&#10;&#10;KI-generierte Inhalte können fehlerhaft sein.">
            <a:extLst>
              <a:ext uri="{FF2B5EF4-FFF2-40B4-BE49-F238E27FC236}">
                <a16:creationId xmlns:a16="http://schemas.microsoft.com/office/drawing/2014/main" id="{FBB1494D-454F-37DC-07E8-EBD93FD403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7998" y="4588785"/>
            <a:ext cx="3492454" cy="1746227"/>
          </a:xfrm>
          <a:custGeom>
            <a:avLst/>
            <a:gdLst/>
            <a:ahLst/>
            <a:cxnLst/>
            <a:rect l="l" t="t" r="r" b="b"/>
            <a:pathLst>
              <a:path w="2833631" h="2677010">
                <a:moveTo>
                  <a:pt x="49418" y="0"/>
                </a:moveTo>
                <a:lnTo>
                  <a:pt x="2784213" y="0"/>
                </a:lnTo>
                <a:cubicBezTo>
                  <a:pt x="2811506" y="0"/>
                  <a:pt x="2833631" y="22125"/>
                  <a:pt x="2833631" y="49418"/>
                </a:cubicBezTo>
                <a:lnTo>
                  <a:pt x="2833631" y="2627592"/>
                </a:lnTo>
                <a:cubicBezTo>
                  <a:pt x="2833631" y="2654885"/>
                  <a:pt x="2811506" y="2677010"/>
                  <a:pt x="2784213" y="2677010"/>
                </a:cubicBezTo>
                <a:lnTo>
                  <a:pt x="49418" y="2677010"/>
                </a:lnTo>
                <a:cubicBezTo>
                  <a:pt x="22125" y="2677010"/>
                  <a:pt x="0" y="2654885"/>
                  <a:pt x="0" y="2627592"/>
                </a:cubicBezTo>
                <a:lnTo>
                  <a:pt x="0" y="49418"/>
                </a:lnTo>
                <a:cubicBezTo>
                  <a:pt x="0" y="22125"/>
                  <a:pt x="22125" y="0"/>
                  <a:pt x="49418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892765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B2B6D6-5C67-2081-68C3-B7A83E048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EA9035-093E-19AB-A7EF-ADC0D09862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D89E08B-743C-D458-2E2F-92575267E6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550A5B4-4E10-46CB-D815-2077BDA5F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de-DE" sz="5400" dirty="0"/>
              <a:t>Was ist Rust</a:t>
            </a:r>
            <a:endParaRPr lang="de-DE" sz="5400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7B3E70C-1DFE-CD3C-233D-925942A21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r>
              <a:rPr lang="de-DE" sz="2200" dirty="0"/>
              <a:t>Wahl einer Programmiersprache: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sz="2200" dirty="0"/>
              <a:t>Komfort und Sicherheit, aber langsamer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sz="2200" dirty="0"/>
              <a:t>Performance, aber komplex anzuwenden</a:t>
            </a:r>
          </a:p>
          <a:p>
            <a:endParaRPr lang="de-DE" sz="2200" dirty="0"/>
          </a:p>
          <a:p>
            <a:r>
              <a:rPr lang="de-DE" sz="2200" dirty="0"/>
              <a:t>Anspruch von Rust: Geschwindigkeit, Sicherheit und Benutzerfreundlichkeit</a:t>
            </a:r>
          </a:p>
          <a:p>
            <a:pPr marL="457200" lvl="1" indent="0">
              <a:buNone/>
            </a:pPr>
            <a:r>
              <a:rPr lang="de-DE" sz="2200" dirty="0"/>
              <a:t>→ Besserer Code bei wenigeren Kompromissen</a:t>
            </a:r>
          </a:p>
        </p:txBody>
      </p:sp>
    </p:spTree>
    <p:extLst>
      <p:ext uri="{BB962C8B-B14F-4D97-AF65-F5344CB8AC3E}">
        <p14:creationId xmlns:p14="http://schemas.microsoft.com/office/powerpoint/2010/main" val="988729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9C760F-60EC-00A1-2DBA-8102B60A7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538EE0C-F315-C89A-6863-5AA0CFA397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9D698CF-568D-BCE5-DC2F-00D77798D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3BF400A-51FB-33A8-28FE-9C128BF11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de-DE" sz="5400" noProof="0" dirty="0"/>
              <a:t>Geschichte von Rust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A9847F5-28F1-58CC-6677-A93D7BE7B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r>
              <a:rPr lang="de-DE" sz="2200" dirty="0"/>
              <a:t>2006 Hobbyprojekt von Graydon Hoares</a:t>
            </a:r>
          </a:p>
          <a:p>
            <a:r>
              <a:rPr lang="de-DE" sz="2200" dirty="0"/>
              <a:t>2010 Präsentation seiner Arbeit auf einem Mozilla-Summit</a:t>
            </a:r>
          </a:p>
          <a:p>
            <a:r>
              <a:rPr lang="de-DE" sz="2200" dirty="0"/>
              <a:t>Förderung und Entwicklung des Projekts durch Mozilla</a:t>
            </a:r>
          </a:p>
          <a:p>
            <a:r>
              <a:rPr lang="de-DE" sz="2200" dirty="0"/>
              <a:t>2017 Firefox mit Rust ausgeliefert</a:t>
            </a:r>
          </a:p>
          <a:p>
            <a:r>
              <a:rPr lang="de-DE" sz="2200" dirty="0"/>
              <a:t>Gründung der Rust </a:t>
            </a:r>
            <a:r>
              <a:rPr lang="de-DE" sz="2200" dirty="0" err="1"/>
              <a:t>Foundation</a:t>
            </a:r>
            <a:endParaRPr lang="de-DE" sz="2200" dirty="0"/>
          </a:p>
          <a:p>
            <a:r>
              <a:rPr lang="de-DE" sz="2200" dirty="0"/>
              <a:t>2021 Teile des Linux-Kernels in Rust geschrieben</a:t>
            </a:r>
          </a:p>
          <a:p>
            <a:r>
              <a:rPr lang="de-DE" sz="2200" dirty="0"/>
              <a:t>2023 Rust im Kernel von Windows 11</a:t>
            </a:r>
          </a:p>
          <a:p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3566811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61AF550-1C55-6E12-9D64-3BC574D66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de-DE" sz="5400" noProof="0" dirty="0"/>
              <a:t>Warum Rust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101105C-C0D3-1492-F43D-BD218099FB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r>
              <a:rPr lang="de-DE" sz="2200" dirty="0"/>
              <a:t>Rust bietet die Geschwindigkeit von C++</a:t>
            </a:r>
          </a:p>
          <a:p>
            <a:r>
              <a:rPr lang="de-DE" sz="2200" dirty="0"/>
              <a:t>kombiniert mit der Sicherheit moderner Sprachen</a:t>
            </a:r>
          </a:p>
          <a:p>
            <a:r>
              <a:rPr lang="de-DE" sz="2200" dirty="0"/>
              <a:t>Es zwingt Entwickler, Speicher- und Besitzregeln klar zu definieren, was zu stabilerem und sichererem Code führt</a:t>
            </a:r>
          </a:p>
          <a:p>
            <a:r>
              <a:rPr lang="de-DE" sz="2200" noProof="0" dirty="0"/>
              <a:t>starkes Typsystem</a:t>
            </a:r>
          </a:p>
          <a:p>
            <a:r>
              <a:rPr lang="de-DE" sz="2200" noProof="0" dirty="0"/>
              <a:t>Es bietet Null-</a:t>
            </a:r>
            <a:r>
              <a:rPr lang="de-DE" sz="2200" noProof="0" dirty="0" err="1"/>
              <a:t>Cost</a:t>
            </a:r>
            <a:r>
              <a:rPr lang="de-DE" sz="2200" noProof="0" dirty="0"/>
              <a:t>-Abstraktionen, Pattern </a:t>
            </a:r>
            <a:r>
              <a:rPr lang="de-DE" sz="2200" noProof="0" dirty="0" err="1"/>
              <a:t>Matching</a:t>
            </a:r>
            <a:r>
              <a:rPr lang="de-DE" sz="2200" noProof="0" dirty="0"/>
              <a:t>, starke </a:t>
            </a:r>
            <a:r>
              <a:rPr lang="de-DE" sz="2200" noProof="0" dirty="0" err="1"/>
              <a:t>Generics</a:t>
            </a:r>
            <a:r>
              <a:rPr lang="de-DE" sz="2200" noProof="0" dirty="0"/>
              <a:t> und ein modernes Modul-System</a:t>
            </a:r>
          </a:p>
          <a:p>
            <a:endParaRPr lang="de-DE" sz="2200" noProof="0" dirty="0"/>
          </a:p>
        </p:txBody>
      </p:sp>
    </p:spTree>
    <p:extLst>
      <p:ext uri="{BB962C8B-B14F-4D97-AF65-F5344CB8AC3E}">
        <p14:creationId xmlns:p14="http://schemas.microsoft.com/office/powerpoint/2010/main" val="1939548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49DAC18-4558-E307-2B03-0FBDC2AC2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de-DE" sz="5400" noProof="0" dirty="0"/>
              <a:t>Wofür wird es genutzt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D8BA9B2-7C2C-8701-873F-2C80F48B5B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r>
              <a:rPr lang="de-DE" sz="2200" dirty="0"/>
              <a:t>Systemprogrammierung</a:t>
            </a:r>
          </a:p>
          <a:p>
            <a:r>
              <a:rPr lang="de-DE" sz="2200" dirty="0"/>
              <a:t>Webentwicklung</a:t>
            </a:r>
          </a:p>
          <a:p>
            <a:r>
              <a:rPr lang="de-DE" sz="2200" dirty="0"/>
              <a:t>Eingebetteten Systemen</a:t>
            </a:r>
          </a:p>
          <a:p>
            <a:r>
              <a:rPr lang="de-DE" sz="2200" dirty="0"/>
              <a:t>Spiele- und Grafikentwicklung</a:t>
            </a:r>
          </a:p>
          <a:p>
            <a:r>
              <a:rPr lang="de-DE" sz="2200" dirty="0"/>
              <a:t>Cloud-Computing</a:t>
            </a:r>
          </a:p>
          <a:p>
            <a:r>
              <a:rPr lang="de-DE" sz="2200" dirty="0"/>
              <a:t>Sicherheit &amp; Kryptographie</a:t>
            </a:r>
            <a:endParaRPr lang="de-DE" sz="2200" noProof="0" dirty="0"/>
          </a:p>
        </p:txBody>
      </p:sp>
    </p:spTree>
    <p:extLst>
      <p:ext uri="{BB962C8B-B14F-4D97-AF65-F5344CB8AC3E}">
        <p14:creationId xmlns:p14="http://schemas.microsoft.com/office/powerpoint/2010/main" val="223970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127E43-9508-30E8-1A8C-BD77207B5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B1D557-1B35-1431-7547-5E0876D78A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27846A0-3891-849C-0DF5-0001A4BCC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7216EB-3CCD-EE84-4849-A1E5940EA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de-DE" sz="5400" noProof="0" dirty="0"/>
              <a:t>Speicher Management im Vergleich</a:t>
            </a: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2BB14FDC-3395-640B-0FBB-3E2F79860E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3305186"/>
              </p:ext>
            </p:extLst>
          </p:nvPr>
        </p:nvGraphicFramePr>
        <p:xfrm>
          <a:off x="835152" y="1674013"/>
          <a:ext cx="10515597" cy="5059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47351631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24007482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3425329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 sz="22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200" noProof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Pro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200" noProof="0" dirty="0">
                          <a:solidFill>
                            <a:srgbClr val="FF0000"/>
                          </a:solidFill>
                        </a:rPr>
                        <a:t>Kontra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8318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2200" b="1" noProof="0" dirty="0" err="1">
                          <a:solidFill>
                            <a:schemeClr val="tx1"/>
                          </a:solidFill>
                        </a:rPr>
                        <a:t>Garbage</a:t>
                      </a:r>
                      <a:r>
                        <a:rPr lang="de-DE" sz="2200" b="1" noProof="0" dirty="0">
                          <a:solidFill>
                            <a:schemeClr val="tx1"/>
                          </a:solidFill>
                        </a:rPr>
                        <a:t>  Collection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Tx/>
                        <a:buChar char="-"/>
                      </a:pPr>
                      <a:r>
                        <a:rPr lang="de-DE" sz="2200" noProof="0" dirty="0"/>
                        <a:t>Fehlerfrei</a:t>
                      </a:r>
                    </a:p>
                    <a:p>
                      <a:pPr marL="342900" indent="-342900">
                        <a:buFontTx/>
                        <a:buChar char="-"/>
                      </a:pPr>
                      <a:r>
                        <a:rPr lang="de-DE" sz="2200" noProof="0" dirty="0"/>
                        <a:t>Weniger Aufwand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Tx/>
                        <a:buChar char="-"/>
                      </a:pPr>
                      <a:r>
                        <a:rPr lang="de-DE" sz="2200" noProof="0" dirty="0"/>
                        <a:t>Keine Kontrolle</a:t>
                      </a:r>
                    </a:p>
                    <a:p>
                      <a:pPr marL="342900" indent="-342900">
                        <a:buFontTx/>
                        <a:buChar char="-"/>
                      </a:pPr>
                      <a:r>
                        <a:rPr lang="de-DE" sz="2200" noProof="0" dirty="0"/>
                        <a:t>Langsamere </a:t>
                      </a:r>
                      <a:r>
                        <a:rPr lang="de-DE" sz="2200" noProof="0" dirty="0" err="1"/>
                        <a:t>runtime</a:t>
                      </a:r>
                      <a:r>
                        <a:rPr lang="de-DE" sz="2200" noProof="0" dirty="0"/>
                        <a:t> </a:t>
                      </a:r>
                      <a:r>
                        <a:rPr lang="de-DE" sz="2200" noProof="0" dirty="0" err="1"/>
                        <a:t>performance</a:t>
                      </a:r>
                      <a:endParaRPr lang="de-DE" sz="2200" noProof="0" dirty="0"/>
                    </a:p>
                    <a:p>
                      <a:pPr marL="342900" indent="-342900">
                        <a:buFontTx/>
                        <a:buChar char="-"/>
                      </a:pPr>
                      <a:r>
                        <a:rPr lang="de-DE" sz="2200" noProof="0" dirty="0"/>
                        <a:t>Größere Programmgröße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936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2200" b="1" noProof="0" dirty="0"/>
                        <a:t>Manuelles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Tx/>
                        <a:buChar char="-"/>
                      </a:pPr>
                      <a:r>
                        <a:rPr lang="de-DE" sz="2200" noProof="0" dirty="0"/>
                        <a:t>Volle Kontrolle </a:t>
                      </a:r>
                    </a:p>
                    <a:p>
                      <a:pPr marL="342900" indent="-342900">
                        <a:buFontTx/>
                        <a:buChar char="-"/>
                      </a:pPr>
                      <a:r>
                        <a:rPr lang="de-DE" sz="2200" noProof="0" dirty="0"/>
                        <a:t>Schnellere </a:t>
                      </a:r>
                      <a:r>
                        <a:rPr lang="de-DE" sz="2200" noProof="0" dirty="0" err="1"/>
                        <a:t>runtime</a:t>
                      </a:r>
                      <a:r>
                        <a:rPr lang="de-DE" sz="2200" noProof="0" dirty="0"/>
                        <a:t> </a:t>
                      </a:r>
                      <a:r>
                        <a:rPr lang="de-DE" sz="2200" noProof="0" dirty="0" err="1"/>
                        <a:t>performance</a:t>
                      </a:r>
                      <a:endParaRPr lang="de-DE" sz="2200" noProof="0" dirty="0"/>
                    </a:p>
                    <a:p>
                      <a:pPr marL="342900" indent="-342900">
                        <a:buFontTx/>
                        <a:buChar char="-"/>
                      </a:pPr>
                      <a:r>
                        <a:rPr lang="de-DE" sz="2200" noProof="0" dirty="0"/>
                        <a:t>Kleinere Programmgröße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Tx/>
                        <a:buChar char="-"/>
                      </a:pPr>
                      <a:r>
                        <a:rPr lang="de-DE" sz="2200" noProof="0" dirty="0"/>
                        <a:t>Fehleranfällig</a:t>
                      </a:r>
                    </a:p>
                    <a:p>
                      <a:pPr marL="342900" indent="-342900">
                        <a:buFontTx/>
                        <a:buChar char="-"/>
                      </a:pPr>
                      <a:r>
                        <a:rPr lang="de-DE" sz="2200" noProof="0" dirty="0"/>
                        <a:t>Mehraufwand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34984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2200" b="1" noProof="0" dirty="0"/>
                        <a:t>Ownership Modell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Tx/>
                        <a:buChar char="-"/>
                      </a:pPr>
                      <a:r>
                        <a:rPr lang="de-DE" sz="2200" noProof="0" dirty="0"/>
                        <a:t>Volle Kontrolle</a:t>
                      </a:r>
                    </a:p>
                    <a:p>
                      <a:pPr marL="342900" indent="-342900">
                        <a:buFontTx/>
                        <a:buChar char="-"/>
                      </a:pPr>
                      <a:r>
                        <a:rPr lang="de-DE" sz="2200" noProof="0" dirty="0"/>
                        <a:t>Schnellere </a:t>
                      </a:r>
                      <a:r>
                        <a:rPr lang="de-DE" sz="2200" noProof="0" dirty="0" err="1"/>
                        <a:t>runtime</a:t>
                      </a:r>
                      <a:r>
                        <a:rPr lang="de-DE" sz="2200" noProof="0" dirty="0"/>
                        <a:t> </a:t>
                      </a:r>
                      <a:r>
                        <a:rPr lang="de-DE" sz="2200" noProof="0" dirty="0" err="1"/>
                        <a:t>performance</a:t>
                      </a:r>
                      <a:endParaRPr lang="de-DE" sz="2200" noProof="0" dirty="0"/>
                    </a:p>
                    <a:p>
                      <a:pPr marL="342900" indent="-342900">
                        <a:buFontTx/>
                        <a:buChar char="-"/>
                      </a:pPr>
                      <a:r>
                        <a:rPr lang="de-DE" sz="2200" noProof="0" dirty="0"/>
                        <a:t>Fehlerfrei</a:t>
                      </a:r>
                    </a:p>
                    <a:p>
                      <a:pPr marL="342900" indent="-342900">
                        <a:buFontTx/>
                        <a:buChar char="-"/>
                      </a:pPr>
                      <a:r>
                        <a:rPr lang="de-DE" sz="2200" noProof="0" dirty="0"/>
                        <a:t>Kleinere Programmgröße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Tx/>
                        <a:buChar char="-"/>
                      </a:pPr>
                      <a:r>
                        <a:rPr lang="de-DE" sz="2200" noProof="0" dirty="0"/>
                        <a:t>Erheblicher Mehraufwand</a:t>
                      </a:r>
                    </a:p>
                    <a:p>
                      <a:pPr marL="342900" indent="-342900">
                        <a:buFontTx/>
                        <a:buChar char="-"/>
                      </a:pPr>
                      <a:r>
                        <a:rPr lang="de-DE" sz="2200" noProof="0" dirty="0"/>
                        <a:t>Komplex</a:t>
                      </a:r>
                    </a:p>
                    <a:p>
                      <a:pPr marL="342900" indent="-342900">
                        <a:buFontTx/>
                        <a:buChar char="-"/>
                      </a:pPr>
                      <a:r>
                        <a:rPr lang="de-DE" sz="2200" noProof="0" dirty="0"/>
                        <a:t>Steile Lernkurve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24261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9051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FCB694-FD9C-3835-72D8-EC4FF07A6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1D009EA-BFC7-BBA9-43A4-DA80EF8DD8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BA9736E-AC70-AD56-2FB4-B9AB224A9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FBBDE36-DE49-E869-A459-E814FBFB5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de-DE" sz="5400" noProof="0" dirty="0"/>
              <a:t>Ownership Modell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655BBC9-FD74-5BA7-E21C-22D79F89F0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r>
              <a:rPr lang="de-DE" sz="2200" dirty="0"/>
              <a:t>Eigentümerschaft ist eine Reihe von Regeln, die bestimmen, wie ein Rust-Programm den Speicher verwaltet</a:t>
            </a:r>
          </a:p>
          <a:p>
            <a:r>
              <a:rPr lang="de-DE" sz="2200" dirty="0"/>
              <a:t>Wird eine Regel verletzt kann nicht kompiliert werden</a:t>
            </a:r>
          </a:p>
          <a:p>
            <a:r>
              <a:rPr lang="de-DE" sz="2200" dirty="0"/>
              <a:t>Regeln verlangsamen in der Laufzeit nicht das Programm</a:t>
            </a:r>
          </a:p>
          <a:p>
            <a:endParaRPr lang="de-DE" sz="2200" dirty="0"/>
          </a:p>
          <a:p>
            <a:pPr marL="0" indent="0">
              <a:buNone/>
            </a:pPr>
            <a:endParaRPr lang="de-DE" sz="2200" noProof="0" dirty="0"/>
          </a:p>
        </p:txBody>
      </p:sp>
    </p:spTree>
    <p:extLst>
      <p:ext uri="{BB962C8B-B14F-4D97-AF65-F5344CB8AC3E}">
        <p14:creationId xmlns:p14="http://schemas.microsoft.com/office/powerpoint/2010/main" val="2457154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D25425B-0A90-AA7A-8800-E9196234C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de-DE" sz="5400" noProof="0" dirty="0"/>
              <a:t>Stack </a:t>
            </a:r>
            <a:r>
              <a:rPr lang="de-DE" sz="5400" noProof="0" dirty="0" err="1"/>
              <a:t>vs</a:t>
            </a:r>
            <a:r>
              <a:rPr lang="de-DE" sz="5400" noProof="0" dirty="0"/>
              <a:t> Heap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3DFD90A-B42D-88D9-7397-440C4B823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r>
              <a:rPr lang="de-DE" sz="2200" dirty="0"/>
              <a:t>Beides Teil des Arbeitsspeichers</a:t>
            </a:r>
          </a:p>
          <a:p>
            <a:r>
              <a:rPr lang="de-DE" sz="2200" dirty="0"/>
              <a:t>Daten mit fester Größe → Stack</a:t>
            </a:r>
          </a:p>
          <a:p>
            <a:r>
              <a:rPr lang="de-DE" sz="2200" dirty="0"/>
              <a:t>Daten mit unbekannter oder variabler Größe → Heap</a:t>
            </a:r>
          </a:p>
          <a:p>
            <a:r>
              <a:rPr lang="de-DE" sz="2200" dirty="0"/>
              <a:t>Wird Speicher im Heap allokiert, wird der Zeiger auf den Stack gelegt</a:t>
            </a:r>
          </a:p>
          <a:p>
            <a:r>
              <a:rPr lang="de-DE" sz="2200" dirty="0"/>
              <a:t>Stack schneller</a:t>
            </a:r>
          </a:p>
          <a:p>
            <a:r>
              <a:rPr lang="de-DE" sz="2200" dirty="0"/>
              <a:t>Hauptzweck der Eigentümerschaft ist die Verwaltung des Heaps </a:t>
            </a:r>
          </a:p>
          <a:p>
            <a:pPr marL="0" indent="0">
              <a:buNone/>
            </a:pPr>
            <a:r>
              <a:rPr lang="de-DE" sz="2200" dirty="0"/>
              <a:t>	→ unterschiedliches Verhalten, je nach dem, ob Daten im Stack oder im Heap 	 	     gespeichert sind</a:t>
            </a:r>
          </a:p>
          <a:p>
            <a:endParaRPr lang="de-DE" sz="2200" dirty="0"/>
          </a:p>
          <a:p>
            <a:pPr marL="0" indent="0">
              <a:buNone/>
            </a:pPr>
            <a:endParaRPr lang="de-DE" sz="2200" dirty="0"/>
          </a:p>
          <a:p>
            <a:endParaRPr lang="de-DE" sz="2200" dirty="0"/>
          </a:p>
          <a:p>
            <a:endParaRPr lang="de-DE" sz="2200" dirty="0"/>
          </a:p>
          <a:p>
            <a:pPr marL="0" indent="0">
              <a:buNone/>
            </a:pPr>
            <a:endParaRPr lang="de-DE" sz="2200" noProof="0" dirty="0"/>
          </a:p>
        </p:txBody>
      </p:sp>
    </p:spTree>
    <p:extLst>
      <p:ext uri="{BB962C8B-B14F-4D97-AF65-F5344CB8AC3E}">
        <p14:creationId xmlns:p14="http://schemas.microsoft.com/office/powerpoint/2010/main" val="3880674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8369B0-B326-5F04-33A9-080BFF06E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14EA5B0-B7FD-79B4-8401-B36A3365EB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7EF9537-6802-BDD0-B120-4FF079F24D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D801C7D-6C9C-FBEB-AA23-E360C1889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de-DE" sz="5400" noProof="0" dirty="0"/>
              <a:t>Ownership Modell Regeln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7F0495-4BA2-8399-9C40-F7359CC99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r>
              <a:rPr lang="de-DE" sz="2200" dirty="0"/>
              <a:t>Jeder Wert in Rust hat einen Eigentümer (</a:t>
            </a:r>
            <a:r>
              <a:rPr lang="de-DE" sz="2200" dirty="0" err="1"/>
              <a:t>owner</a:t>
            </a:r>
            <a:r>
              <a:rPr lang="de-DE" sz="2200" dirty="0"/>
              <a:t>).</a:t>
            </a:r>
          </a:p>
          <a:p>
            <a:r>
              <a:rPr lang="de-DE" sz="2200" dirty="0"/>
              <a:t>Es kann immer nur einen Eigentümer zur gleichen Zeit geben </a:t>
            </a:r>
          </a:p>
          <a:p>
            <a:r>
              <a:rPr lang="de-DE" sz="2200" dirty="0"/>
              <a:t>Wenn der Eigentümer den Gültigkeitsbereich verlässt, wird der Wert aufgeräumt</a:t>
            </a:r>
          </a:p>
          <a:p>
            <a:pPr marL="0" indent="0">
              <a:buNone/>
            </a:pPr>
            <a:endParaRPr lang="de-DE" sz="2200" dirty="0"/>
          </a:p>
          <a:p>
            <a:endParaRPr lang="de-DE" sz="2200" dirty="0"/>
          </a:p>
          <a:p>
            <a:pPr marL="0" indent="0">
              <a:buNone/>
            </a:pPr>
            <a:endParaRPr lang="de-DE" sz="2200" noProof="0" dirty="0"/>
          </a:p>
        </p:txBody>
      </p:sp>
    </p:spTree>
    <p:extLst>
      <p:ext uri="{BB962C8B-B14F-4D97-AF65-F5344CB8AC3E}">
        <p14:creationId xmlns:p14="http://schemas.microsoft.com/office/powerpoint/2010/main" val="670083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A8675D-ECE7-26A2-3A30-76D4BCAF3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10BC34C-63F1-3F20-576B-51C1B9014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1053BC7-A15B-E537-61B1-9B4E65CC32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C58BD29-DE9D-E25B-E620-F0609CC47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de-DE" sz="5400" noProof="0" dirty="0"/>
              <a:t>Ownership Modell Regeln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2500D9D-8A13-B205-C88B-FFC38D7B6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endParaRPr lang="de-DE" sz="2200" dirty="0"/>
          </a:p>
          <a:p>
            <a:pPr marL="0" indent="0">
              <a:buNone/>
            </a:pPr>
            <a:endParaRPr lang="de-DE" sz="2200" noProof="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547B0E6-AE9F-1978-800F-0F21E5CCE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642" y="3301460"/>
            <a:ext cx="10907667" cy="2160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8122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3778B4-BA84-336A-1E53-1D27217B4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F592D65-899E-5CB2-E439-F5C9D9E56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CF4228B-9506-A411-B5BA-586642E320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36E074B-4F22-4A63-2BBE-336EAE431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de-DE" sz="5400" noProof="0" dirty="0"/>
              <a:t>Ownership Modell Regeln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2AD4A4C-FAEA-9576-1E19-8A51E2BE7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endParaRPr lang="de-DE" sz="2200" dirty="0"/>
          </a:p>
          <a:p>
            <a:pPr marL="0" indent="0">
              <a:buNone/>
            </a:pPr>
            <a:endParaRPr lang="de-DE" sz="2200" noProof="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6653E97D-1F33-1C5D-B7F0-97683A2CC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247" y="3330960"/>
            <a:ext cx="10830458" cy="2101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331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D671E8-BCC5-50E8-FA0C-BFCE6A16A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DDFEDB6-4F4B-00EB-69BF-C31A617724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D16F53F-6A46-1964-01F6-11882D7881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F9F06E3-114B-8781-AF2D-A93397303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de-DE" sz="5400" noProof="0" dirty="0"/>
              <a:t>Ownership Modell Regeln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9D0F530-AFB3-D988-4E3C-08B6D1108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endParaRPr lang="de-DE" sz="2200" dirty="0"/>
          </a:p>
          <a:p>
            <a:pPr marL="0" indent="0">
              <a:buNone/>
            </a:pPr>
            <a:endParaRPr lang="de-DE" sz="2200" noProof="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7753BD7-533A-DA76-2FD1-778268587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152" y="2347414"/>
            <a:ext cx="2509661" cy="1145348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1664740F-41E7-FC9C-79C1-03C9F960BB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152" y="3835211"/>
            <a:ext cx="7564011" cy="1340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333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C2230F-1B2C-C51C-8555-C07F9A12E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9240C1-7DA0-DF23-AD20-C7C41E9881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70AE703-9FC0-F7FB-51F2-306427BFB2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6461DD8-E51F-7B78-ED13-53AFA0D69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de-DE" sz="5400" noProof="0" dirty="0"/>
              <a:t>Ownership Modell Regeln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6A6523-0D94-187C-3D35-F85AC47FAC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endParaRPr lang="de-DE" sz="2200" dirty="0"/>
          </a:p>
          <a:p>
            <a:pPr marL="0" indent="0">
              <a:buNone/>
            </a:pPr>
            <a:endParaRPr lang="de-DE" sz="2200" noProof="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F676D83-BEF4-CF4E-EDAD-ED778F85B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787" y="2314768"/>
            <a:ext cx="5925377" cy="4391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905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7719DC-D31E-B663-3172-310F1EAB6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DDC3729-77D9-B372-3EE0-F0E402011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58CCEDC-0DBA-091B-0322-58AC9C3F22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B8AA063-D5B9-DFB1-0AE3-102955F6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de-DE" sz="5400" noProof="0" dirty="0"/>
              <a:t>Ownership Modell Regeln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578FC5B-3EA6-63B2-40EF-E3F29A06B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endParaRPr lang="de-DE" sz="2200" dirty="0"/>
          </a:p>
          <a:p>
            <a:endParaRPr lang="de-DE" sz="2200" dirty="0"/>
          </a:p>
          <a:p>
            <a:endParaRPr lang="de-DE" sz="2200" dirty="0"/>
          </a:p>
          <a:p>
            <a:endParaRPr lang="de-DE" sz="2200" dirty="0"/>
          </a:p>
          <a:p>
            <a:pPr marL="0" indent="0">
              <a:buNone/>
            </a:pPr>
            <a:endParaRPr lang="de-DE" sz="2200" dirty="0"/>
          </a:p>
          <a:p>
            <a:pPr marL="0" indent="0">
              <a:buNone/>
            </a:pPr>
            <a:r>
              <a:rPr lang="de-DE" sz="2200" dirty="0"/>
              <a:t>→ </a:t>
            </a:r>
            <a:r>
              <a:rPr lang="de-DE" sz="2200" dirty="0" err="1"/>
              <a:t>Kompiler</a:t>
            </a:r>
            <a:r>
              <a:rPr lang="de-DE" sz="2200" dirty="0"/>
              <a:t>-Fehler</a:t>
            </a:r>
          </a:p>
          <a:p>
            <a:pPr marL="0" indent="0">
              <a:buNone/>
            </a:pPr>
            <a:endParaRPr lang="de-DE" sz="2200" dirty="0"/>
          </a:p>
          <a:p>
            <a:endParaRPr lang="de-DE" sz="2200" dirty="0"/>
          </a:p>
          <a:p>
            <a:pPr marL="0" indent="0">
              <a:buNone/>
            </a:pPr>
            <a:endParaRPr lang="de-DE" sz="2200" noProof="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A650D2E5-D2FC-2EE8-1841-D0E53D9C6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152" y="2748635"/>
            <a:ext cx="5462025" cy="1728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7057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00B1E2-73B4-4BF0-4879-ECF484A46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3B82E2A-00F1-730A-1C8B-6EFC5243A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8A86FE0-9B92-50D8-C285-F05D804BE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54DCBF9-D7A0-A399-B304-7AD0B9FE9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de-DE" sz="5400" noProof="0" dirty="0"/>
              <a:t>Ownership Modell Regeln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6E023CA-1D72-2B2A-9B2D-EA34B47CF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endParaRPr lang="de-DE" sz="2200" dirty="0"/>
          </a:p>
          <a:p>
            <a:pPr marL="0" indent="0">
              <a:buNone/>
            </a:pPr>
            <a:endParaRPr lang="de-DE" sz="2200" noProof="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DCCEBDB-0E1A-F48B-6D00-9FD782572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125" y="2348110"/>
            <a:ext cx="5477639" cy="4324954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1B7A73F0-3496-31DB-B683-154EEBFF2858}"/>
              </a:ext>
            </a:extLst>
          </p:cNvPr>
          <p:cNvSpPr txBox="1"/>
          <p:nvPr/>
        </p:nvSpPr>
        <p:spPr>
          <a:xfrm>
            <a:off x="7131281" y="3346312"/>
            <a:ext cx="386097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200" dirty="0"/>
              <a:t>→ s1 wurde in s2 verschoben</a:t>
            </a:r>
          </a:p>
          <a:p>
            <a:endParaRPr lang="de-DE" sz="2200" dirty="0"/>
          </a:p>
        </p:txBody>
      </p:sp>
    </p:spTree>
    <p:extLst>
      <p:ext uri="{BB962C8B-B14F-4D97-AF65-F5344CB8AC3E}">
        <p14:creationId xmlns:p14="http://schemas.microsoft.com/office/powerpoint/2010/main" val="18153841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2D01B7-94CA-34C4-8F18-805801731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11D30C1-0E43-AAD6-51E4-5679CD8C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1D63779-65B1-D78F-2B3C-5A4ECEF56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715CD05-0FEC-14FD-339C-469D5C96A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de-DE" sz="5400" noProof="0" dirty="0"/>
              <a:t>Ökosystem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F49735E-2D31-30D9-1366-9765236D9B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r>
              <a:rPr lang="de-DE" sz="2200" dirty="0" err="1"/>
              <a:t>Opensource</a:t>
            </a:r>
            <a:endParaRPr lang="de-DE" sz="2200" dirty="0"/>
          </a:p>
          <a:p>
            <a:r>
              <a:rPr lang="de-DE" sz="2200" dirty="0"/>
              <a:t>Pakete können installiert werden (crates.io)</a:t>
            </a:r>
          </a:p>
          <a:p>
            <a:r>
              <a:rPr lang="de-DE" sz="2200" dirty="0"/>
              <a:t>Die meisten C Bibliotheken können importiert werden</a:t>
            </a:r>
          </a:p>
          <a:p>
            <a:r>
              <a:rPr lang="de-DE" sz="2200" dirty="0"/>
              <a:t>Insgesamt &gt;163.000 </a:t>
            </a:r>
            <a:r>
              <a:rPr lang="de-DE" sz="2200" dirty="0" err="1"/>
              <a:t>Crates</a:t>
            </a:r>
            <a:endParaRPr lang="de-DE" sz="2200" dirty="0"/>
          </a:p>
          <a:p>
            <a:r>
              <a:rPr lang="de-DE" sz="2200" dirty="0"/>
              <a:t>Betriebssystem entkoppelt</a:t>
            </a:r>
          </a:p>
          <a:p>
            <a:endParaRPr lang="de-DE" sz="2200" noProof="0" dirty="0"/>
          </a:p>
        </p:txBody>
      </p:sp>
    </p:spTree>
    <p:extLst>
      <p:ext uri="{BB962C8B-B14F-4D97-AF65-F5344CB8AC3E}">
        <p14:creationId xmlns:p14="http://schemas.microsoft.com/office/powerpoint/2010/main" val="35932558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6178C7-3BC6-610C-1C15-FFC3A6B60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8B52CD1-A09D-3D6A-18ED-37F7A58403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84A29FD-04F8-273F-C6D4-A3F537F17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402C837-B4C9-8FD3-7F42-78BFE10AD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de-DE" sz="5400" noProof="0" dirty="0"/>
              <a:t>Performance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25F8159-E4D4-62AB-7CDD-3740A0B58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r>
              <a:rPr lang="de-DE" sz="2200" dirty="0"/>
              <a:t>Anspruch ähnlich schnell zu sein wie C/C++</a:t>
            </a:r>
          </a:p>
          <a:p>
            <a:r>
              <a:rPr lang="de-DE" sz="2200" dirty="0"/>
              <a:t>Zero </a:t>
            </a:r>
            <a:r>
              <a:rPr lang="de-DE" sz="2200" dirty="0" err="1"/>
              <a:t>cost</a:t>
            </a:r>
            <a:r>
              <a:rPr lang="de-DE" sz="2200" dirty="0"/>
              <a:t> </a:t>
            </a:r>
            <a:r>
              <a:rPr lang="de-DE" sz="2200" dirty="0" err="1"/>
              <a:t>abstractions</a:t>
            </a:r>
            <a:endParaRPr lang="de-DE" sz="2200" dirty="0"/>
          </a:p>
          <a:p>
            <a:r>
              <a:rPr lang="de-DE" sz="2200" dirty="0"/>
              <a:t>Kein Overhead durch einen </a:t>
            </a:r>
            <a:r>
              <a:rPr lang="de-DE" sz="2200" dirty="0" err="1"/>
              <a:t>Garbage</a:t>
            </a:r>
            <a:r>
              <a:rPr lang="de-DE" sz="2200" dirty="0"/>
              <a:t> </a:t>
            </a:r>
            <a:r>
              <a:rPr lang="de-DE" sz="2200" dirty="0" err="1"/>
              <a:t>Collector</a:t>
            </a:r>
            <a:endParaRPr lang="de-DE" sz="2200" dirty="0"/>
          </a:p>
          <a:p>
            <a:r>
              <a:rPr lang="de-DE" sz="2200" dirty="0" err="1"/>
              <a:t>Compile</a:t>
            </a:r>
            <a:r>
              <a:rPr lang="de-DE" sz="2200" dirty="0"/>
              <a:t>-Time Evaluation</a:t>
            </a:r>
          </a:p>
          <a:p>
            <a:r>
              <a:rPr lang="de-DE" sz="2200" dirty="0" err="1"/>
              <a:t>Direct</a:t>
            </a:r>
            <a:r>
              <a:rPr lang="de-DE" sz="2200" dirty="0"/>
              <a:t> Memory Access </a:t>
            </a:r>
          </a:p>
          <a:p>
            <a:r>
              <a:rPr lang="de-DE" sz="2200" dirty="0"/>
              <a:t>Aber: Rust braucht deutlich länger zum Kompilieren</a:t>
            </a:r>
          </a:p>
          <a:p>
            <a:endParaRPr lang="de-DE" sz="2200" dirty="0"/>
          </a:p>
          <a:p>
            <a:endParaRPr lang="de-DE" sz="2200" dirty="0"/>
          </a:p>
          <a:p>
            <a:endParaRPr lang="de-DE" sz="2200" dirty="0"/>
          </a:p>
          <a:p>
            <a:endParaRPr lang="de-DE" dirty="0"/>
          </a:p>
          <a:p>
            <a:endParaRPr lang="de-DE" sz="2200" noProof="0" dirty="0"/>
          </a:p>
        </p:txBody>
      </p:sp>
    </p:spTree>
    <p:extLst>
      <p:ext uri="{BB962C8B-B14F-4D97-AF65-F5344CB8AC3E}">
        <p14:creationId xmlns:p14="http://schemas.microsoft.com/office/powerpoint/2010/main" val="20480071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608AE7-563D-FE44-3AE1-0CCC3D4B1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5D7C707-FB49-4498-1C64-8395CD1D02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3F80DD0-D894-907D-4F4F-A411B0700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0537A0A-EB1F-3979-8440-912681BEA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de-DE" sz="5400" noProof="0" dirty="0"/>
              <a:t>Zuverlässigkeit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2B50601-C182-B7DB-03F3-3B03F3AA67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r>
              <a:rPr lang="de-DE" sz="2200" dirty="0"/>
              <a:t>Gute Typensicherheit</a:t>
            </a:r>
          </a:p>
          <a:p>
            <a:r>
              <a:rPr lang="de-DE" sz="2200" dirty="0"/>
              <a:t>„Wenn Ich Rust kompiliert bekomme, dann läuft es auch“</a:t>
            </a:r>
          </a:p>
          <a:p>
            <a:r>
              <a:rPr lang="de-DE" sz="2200" dirty="0"/>
              <a:t>Stürzt nur sehr selten zur Laufzeit ab</a:t>
            </a:r>
          </a:p>
          <a:p>
            <a:r>
              <a:rPr lang="de-DE" sz="2200" dirty="0"/>
              <a:t>Memory </a:t>
            </a:r>
            <a:r>
              <a:rPr lang="de-DE" sz="2200" dirty="0" err="1"/>
              <a:t>Safety</a:t>
            </a:r>
            <a:endParaRPr lang="de-DE" sz="2200" dirty="0"/>
          </a:p>
          <a:p>
            <a:r>
              <a:rPr lang="de-DE" sz="2200" dirty="0"/>
              <a:t>Thread </a:t>
            </a:r>
            <a:r>
              <a:rPr lang="de-DE" sz="2200" dirty="0" err="1"/>
              <a:t>Safety</a:t>
            </a:r>
            <a:endParaRPr lang="de-DE" sz="2200" dirty="0"/>
          </a:p>
          <a:p>
            <a:r>
              <a:rPr lang="de-DE" sz="2200" dirty="0"/>
              <a:t>Variablen sind per </a:t>
            </a:r>
            <a:r>
              <a:rPr lang="de-DE" sz="2200" dirty="0" err="1"/>
              <a:t>default</a:t>
            </a:r>
            <a:r>
              <a:rPr lang="de-DE" sz="2200" dirty="0"/>
              <a:t> </a:t>
            </a:r>
            <a:r>
              <a:rPr lang="de-DE" sz="2200" dirty="0" err="1"/>
              <a:t>immutable</a:t>
            </a:r>
            <a:endParaRPr lang="de-DE" sz="2200" dirty="0"/>
          </a:p>
          <a:p>
            <a:endParaRPr lang="de-DE" sz="2200" noProof="0" dirty="0"/>
          </a:p>
        </p:txBody>
      </p:sp>
    </p:spTree>
    <p:extLst>
      <p:ext uri="{BB962C8B-B14F-4D97-AF65-F5344CB8AC3E}">
        <p14:creationId xmlns:p14="http://schemas.microsoft.com/office/powerpoint/2010/main" val="27138539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1FA5156-B975-1F80-032B-0880D2F6C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de-DE" sz="5400" noProof="0" dirty="0"/>
              <a:t>Nachteile von Rust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FEF5432-0D3B-7591-2BB2-B47E6F123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r>
              <a:rPr lang="de-DE" sz="2200" noProof="0" dirty="0"/>
              <a:t>Steile Lernkurve</a:t>
            </a:r>
          </a:p>
          <a:p>
            <a:r>
              <a:rPr lang="de-DE" sz="2200" noProof="0" dirty="0"/>
              <a:t>Kompilieren dauert deutlich länger</a:t>
            </a:r>
          </a:p>
          <a:p>
            <a:r>
              <a:rPr lang="de-DE" sz="2200" noProof="0" dirty="0"/>
              <a:t>Kleineres Ökosystem als bei C++ oder Python</a:t>
            </a:r>
          </a:p>
          <a:p>
            <a:r>
              <a:rPr lang="de-DE" sz="2200" noProof="0" dirty="0"/>
              <a:t>Man schreibt oft mehr Code, um dieselbe Aufgabe zu lösen</a:t>
            </a:r>
          </a:p>
        </p:txBody>
      </p:sp>
    </p:spTree>
    <p:extLst>
      <p:ext uri="{BB962C8B-B14F-4D97-AF65-F5344CB8AC3E}">
        <p14:creationId xmlns:p14="http://schemas.microsoft.com/office/powerpoint/2010/main" val="36644338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5FD7C72-4313-3AAD-B1A1-B907FBCBB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de-DE" sz="5400" noProof="0" dirty="0"/>
              <a:t>Installation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DDE746E-B930-DCB8-6CAF-466A77936B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r>
              <a:rPr lang="de-DE" sz="2200" noProof="0" dirty="0"/>
              <a:t>Installieren: </a:t>
            </a:r>
            <a:r>
              <a:rPr lang="de-DE" sz="2200" noProof="0" dirty="0">
                <a:hlinkClick r:id="rId2"/>
              </a:rPr>
              <a:t>https://rust-lang.org/tools/install</a:t>
            </a:r>
            <a:endParaRPr lang="de-DE" sz="2200" noProof="0" dirty="0"/>
          </a:p>
          <a:p>
            <a:r>
              <a:rPr lang="de-DE" sz="2200" noProof="0" dirty="0"/>
              <a:t>Online ausprobieren: </a:t>
            </a:r>
            <a:r>
              <a:rPr lang="de-DE" sz="2200" noProof="0" dirty="0">
                <a:hlinkClick r:id="rId3"/>
              </a:rPr>
              <a:t>https://play.rust-lang.org/?version=stable&amp;mode=debug&amp;edition=2024</a:t>
            </a:r>
            <a:endParaRPr lang="de-DE" sz="2200" noProof="0" dirty="0"/>
          </a:p>
          <a:p>
            <a:endParaRPr lang="de-DE" sz="2200" noProof="0" dirty="0"/>
          </a:p>
          <a:p>
            <a:endParaRPr lang="de-DE" sz="2200" noProof="0" dirty="0"/>
          </a:p>
        </p:txBody>
      </p:sp>
    </p:spTree>
    <p:extLst>
      <p:ext uri="{BB962C8B-B14F-4D97-AF65-F5344CB8AC3E}">
        <p14:creationId xmlns:p14="http://schemas.microsoft.com/office/powerpoint/2010/main" val="38264762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8C2C16F-F290-D099-5345-54EF7E332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de-DE" sz="5400" noProof="0" dirty="0"/>
              <a:t>Codebeispiele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DD4E7A7-DE2D-DA73-5EC2-63027DFE41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r>
              <a:rPr lang="de-DE" sz="2200" dirty="0"/>
              <a:t>Alle gezeigten Codebeispiele sind in meinem GitHub-Repo zu finden: </a:t>
            </a:r>
            <a:r>
              <a:rPr lang="de-DE" sz="2200" dirty="0">
                <a:hlinkClick r:id="rId2"/>
              </a:rPr>
              <a:t>https://github.com/SimonJ2222/Rust</a:t>
            </a:r>
            <a:endParaRPr lang="de-DE" sz="2200" dirty="0"/>
          </a:p>
          <a:p>
            <a:endParaRPr lang="de-DE" sz="2200" noProof="0" dirty="0"/>
          </a:p>
        </p:txBody>
      </p:sp>
    </p:spTree>
    <p:extLst>
      <p:ext uri="{BB962C8B-B14F-4D97-AF65-F5344CB8AC3E}">
        <p14:creationId xmlns:p14="http://schemas.microsoft.com/office/powerpoint/2010/main" val="24518494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C6E67A-6B4D-CB17-F217-C91495BC8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05751B6-15C8-FE93-5305-2016698F17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CB5B9A-2C12-6AA2-4CBB-DC9C139E76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2549E2B-3302-BC33-E9DC-348A33E0D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de-DE" sz="5400" noProof="0" dirty="0"/>
              <a:t>Fragen?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DED4C55C-7E74-83C4-28CF-5A6A27F3EF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1282" y="2347414"/>
            <a:ext cx="5386387" cy="3590925"/>
          </a:xfrm>
        </p:spPr>
      </p:pic>
    </p:spTree>
    <p:extLst>
      <p:ext uri="{BB962C8B-B14F-4D97-AF65-F5344CB8AC3E}">
        <p14:creationId xmlns:p14="http://schemas.microsoft.com/office/powerpoint/2010/main" val="4015557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521</Words>
  <Application>Microsoft Office PowerPoint</Application>
  <PresentationFormat>Breitbild</PresentationFormat>
  <Paragraphs>121</Paragraphs>
  <Slides>22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Wingdings</vt:lpstr>
      <vt:lpstr>Office</vt:lpstr>
      <vt:lpstr>Rust</vt:lpstr>
      <vt:lpstr>Was ist Rust</vt:lpstr>
      <vt:lpstr>Geschichte von Rust</vt:lpstr>
      <vt:lpstr>Warum Rust</vt:lpstr>
      <vt:lpstr>Wofür wird es genutzt</vt:lpstr>
      <vt:lpstr>Speicher Management im Vergleich</vt:lpstr>
      <vt:lpstr>Ownership Modell</vt:lpstr>
      <vt:lpstr>Stack vs Heap</vt:lpstr>
      <vt:lpstr>Ownership Modell Regeln</vt:lpstr>
      <vt:lpstr>Ownership Modell Regeln</vt:lpstr>
      <vt:lpstr>Ownership Modell Regeln</vt:lpstr>
      <vt:lpstr>Ownership Modell Regeln</vt:lpstr>
      <vt:lpstr>Ownership Modell Regeln</vt:lpstr>
      <vt:lpstr>Ownership Modell Regeln</vt:lpstr>
      <vt:lpstr>Ownership Modell Regeln</vt:lpstr>
      <vt:lpstr>Ökosystem</vt:lpstr>
      <vt:lpstr>Performance</vt:lpstr>
      <vt:lpstr>Zuverlässigkeit</vt:lpstr>
      <vt:lpstr>Nachteile von Rust</vt:lpstr>
      <vt:lpstr>Installation</vt:lpstr>
      <vt:lpstr>Codebeispiele</vt:lpstr>
      <vt:lpstr>Fragen?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Semily Krabat</dc:creator>
  <cp:lastModifiedBy>Simon Just</cp:lastModifiedBy>
  <cp:revision>40</cp:revision>
  <dcterms:created xsi:type="dcterms:W3CDTF">2025-11-01T16:44:25Z</dcterms:created>
  <dcterms:modified xsi:type="dcterms:W3CDTF">2025-11-10T21:44:45Z</dcterms:modified>
</cp:coreProperties>
</file>